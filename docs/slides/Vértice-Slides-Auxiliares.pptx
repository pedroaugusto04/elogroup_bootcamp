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56616"/>
            <a:ext cx="256032" cy="50292"/>
          </a:xfrm>
          <a:prstGeom prst="rect">
            <a:avLst/>
          </a:prstGeom>
          <a:solidFill>
            <a:srgbClr val="E000D2"/>
          </a:solidFill>
          <a:ln>
            <a:solidFill>
              <a:srgbClr val="E00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46888"/>
            <a:ext cx="6766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561265"/>
                </a:solidFill>
                <a:latin typeface="Lato"/>
              </a:defRPr>
            </a:pPr>
            <a:r>
              <a:t>A1 / CONTRATO DOS DADOS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71632" y="246888"/>
            <a:ext cx="868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50" b="1">
                <a:solidFill>
                  <a:srgbClr val="37183E"/>
                </a:solidFill>
                <a:latin typeface="Lato"/>
              </a:defRPr>
            </a:pPr>
            <a:r>
              <a:t>VÉRTICE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97280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defRPr sz="2700" b="1">
                <a:solidFill>
                  <a:srgbClr val="37183E"/>
                </a:solidFill>
                <a:latin typeface="Lato"/>
              </a:defRPr>
            </a:pPr>
            <a:r>
              <a:t>O número muda quando muda a fonte.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7899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500" b="0">
                <a:solidFill>
                  <a:srgbClr val="5D5860"/>
                </a:solidFill>
                <a:latin typeface="Lato"/>
              </a:defRPr>
            </a:pPr>
            <a:r>
              <a:t>Antes de cruzar bases, fixe período, grão e definição financeira.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74519"/>
            <a:ext cx="2670048" cy="3154680"/>
          </a:xfrm>
          <a:prstGeom prst="rect">
            <a:avLst/>
          </a:prstGeom>
          <a:solidFill>
            <a:srgbClr val="F7EFFA"/>
          </a:solidFill>
          <a:ln>
            <a:solidFill>
              <a:srgbClr val="F7EF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74519"/>
            <a:ext cx="54864" cy="3154680"/>
          </a:xfrm>
          <a:prstGeom prst="rect">
            <a:avLst/>
          </a:prstGeom>
          <a:solidFill>
            <a:srgbClr val="561265"/>
          </a:solidFill>
          <a:ln>
            <a:solidFill>
              <a:srgbClr val="5612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205740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1">
                <a:solidFill>
                  <a:srgbClr val="E000D2"/>
                </a:solidFill>
                <a:latin typeface="Lato"/>
              </a:defRPr>
            </a:pPr>
            <a:r>
              <a:t>VENDAS · 391 DIAS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350008"/>
            <a:ext cx="22860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200" b="1">
                <a:solidFill>
                  <a:srgbClr val="37183E"/>
                </a:solidFill>
                <a:latin typeface="Lato"/>
              </a:defRPr>
            </a:pPr>
            <a:r>
              <a:t>R$ 14,17M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907791"/>
            <a:ext cx="2286000" cy="1984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defRPr sz="1150" b="0">
                <a:solidFill>
                  <a:srgbClr val="5D5860"/>
                </a:solidFill>
                <a:latin typeface="Lato"/>
              </a:defRPr>
            </a:pPr>
            <a:r>
              <a:t>Receita efetivamente retida.</a:t>
            </a:r>
            <a:br/>
            <a:br/>
            <a:r>
              <a:t>R$ 16,67M é receita nominal de pedidos aprovados, antes do estorno das devoluções.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46704" y="1874519"/>
            <a:ext cx="2670048" cy="3154680"/>
          </a:xfrm>
          <a:prstGeom prst="rect">
            <a:avLst/>
          </a:prstGeom>
          <a:solidFill>
            <a:srgbClr val="F7EFFA"/>
          </a:solidFill>
          <a:ln>
            <a:solidFill>
              <a:srgbClr val="F7EF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46704" y="1874519"/>
            <a:ext cx="54864" cy="3154680"/>
          </a:xfrm>
          <a:prstGeom prst="rect">
            <a:avLst/>
          </a:prstGeom>
          <a:solidFill>
            <a:srgbClr val="561265"/>
          </a:solidFill>
          <a:ln>
            <a:solidFill>
              <a:srgbClr val="5612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57016" y="205740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1">
                <a:solidFill>
                  <a:srgbClr val="E000D2"/>
                </a:solidFill>
                <a:latin typeface="Lato"/>
              </a:defRPr>
            </a:pPr>
            <a:r>
              <a:t>ESTOQUE · SNAPSHOT AUSENTE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57016" y="2350008"/>
            <a:ext cx="22860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200" b="1">
                <a:solidFill>
                  <a:srgbClr val="37183E"/>
                </a:solidFill>
                <a:latin typeface="Lato"/>
              </a:defRPr>
            </a:pPr>
            <a:r>
              <a:t>99 + 701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57016" y="2907791"/>
            <a:ext cx="2286000" cy="1984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defRPr sz="1150" b="0">
                <a:solidFill>
                  <a:srgbClr val="5D5860"/>
                </a:solidFill>
                <a:latin typeface="Lato"/>
              </a:defRPr>
            </a:pPr>
            <a:r>
              <a:t>99 SKUs zerados e 701 no/abaixo do ponto de pedido.</a:t>
            </a:r>
            <a:br/>
            <a:br/>
            <a:r>
              <a:t>Saldo operacional é válido; a data da posição não foi fornecida.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44768" y="1874519"/>
            <a:ext cx="2670048" cy="3154680"/>
          </a:xfrm>
          <a:prstGeom prst="rect">
            <a:avLst/>
          </a:prstGeom>
          <a:solidFill>
            <a:srgbClr val="F7EFFA"/>
          </a:solidFill>
          <a:ln>
            <a:solidFill>
              <a:srgbClr val="F7EF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44768" y="1874519"/>
            <a:ext cx="54864" cy="3154680"/>
          </a:xfrm>
          <a:prstGeom prst="rect">
            <a:avLst/>
          </a:prstGeom>
          <a:solidFill>
            <a:srgbClr val="561265"/>
          </a:solidFill>
          <a:ln>
            <a:solidFill>
              <a:srgbClr val="5612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205740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1">
                <a:solidFill>
                  <a:srgbClr val="E000D2"/>
                </a:solidFill>
                <a:latin typeface="Lato"/>
              </a:defRPr>
            </a:pPr>
            <a:r>
              <a:t>MARKETING · 2023–2025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2350008"/>
            <a:ext cx="22860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200" b="1">
                <a:solidFill>
                  <a:srgbClr val="37183E"/>
                </a:solidFill>
                <a:latin typeface="Lato"/>
              </a:defRPr>
            </a:pPr>
            <a:r>
              <a:t>Sem ROAS real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907791"/>
            <a:ext cx="2286000" cy="1984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defRPr sz="1150" b="0">
                <a:solidFill>
                  <a:srgbClr val="5D5860"/>
                </a:solidFill>
                <a:latin typeface="Lato"/>
              </a:defRPr>
            </a:pPr>
            <a:r>
              <a:t>Não há campaign_id ou janela de atribuição nos pedidos.</a:t>
            </a:r>
            <a:br/>
            <a:br/>
            <a:r>
              <a:t>Comparações por canal são exploratórias, não causais.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42832" y="1874519"/>
            <a:ext cx="2697480" cy="3154680"/>
          </a:xfrm>
          <a:prstGeom prst="rect">
            <a:avLst/>
          </a:prstGeom>
          <a:solidFill>
            <a:srgbClr val="F7EFFA"/>
          </a:solidFill>
          <a:ln>
            <a:solidFill>
              <a:srgbClr val="F7EF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42832" y="1874519"/>
            <a:ext cx="54864" cy="3154680"/>
          </a:xfrm>
          <a:prstGeom prst="rect">
            <a:avLst/>
          </a:prstGeom>
          <a:solidFill>
            <a:srgbClr val="561265"/>
          </a:solidFill>
          <a:ln>
            <a:solidFill>
              <a:srgbClr val="5612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53144" y="2057400"/>
            <a:ext cx="23134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1">
                <a:solidFill>
                  <a:srgbClr val="E000D2"/>
                </a:solidFill>
                <a:latin typeface="Lato"/>
              </a:defRPr>
            </a:pPr>
            <a:r>
              <a:t>CRM + CX · BAIXA COBERTURA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53144" y="2350008"/>
            <a:ext cx="231343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200" b="1">
                <a:solidFill>
                  <a:srgbClr val="37183E"/>
                </a:solidFill>
                <a:latin typeface="Lato"/>
              </a:defRPr>
            </a:pPr>
            <a:r>
              <a:t>2,3%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2907791"/>
            <a:ext cx="2313432" cy="1984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defRPr sz="1150" b="0">
                <a:solidFill>
                  <a:srgbClr val="5D5860"/>
                </a:solidFill>
                <a:latin typeface="Lato"/>
              </a:defRPr>
            </a:pPr>
            <a:r>
              <a:t>Só 346 de 15 mil clientes aparecem em Vendas.</a:t>
            </a:r>
            <a:br/>
            <a:br/>
            <a:r>
              <a:t>65,4% dos tickets citam pedidos fora do extrato disponível.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330952"/>
            <a:ext cx="11091672" cy="658368"/>
          </a:xfrm>
          <a:prstGeom prst="rect">
            <a:avLst/>
          </a:prstGeom>
          <a:solidFill>
            <a:srgbClr val="561265"/>
          </a:solidFill>
          <a:ln>
            <a:solidFill>
              <a:srgbClr val="5612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5504688"/>
            <a:ext cx="13898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00" b="1">
                <a:solidFill>
                  <a:srgbClr val="E000D2"/>
                </a:solidFill>
                <a:latin typeface="Lato"/>
              </a:defRPr>
            </a:pPr>
            <a:r>
              <a:t>REGRA DE LEITURA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40280" y="5449824"/>
            <a:ext cx="907084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FFFFFF"/>
                </a:solidFill>
                <a:latin typeface="Lato"/>
              </a:defRPr>
            </a:pPr>
            <a:r>
              <a:t>KPIs dentro de cada base são auditáveis; métricas cruzadas exigem cobertura explícita.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48640" y="6327648"/>
            <a:ext cx="11091672" cy="0"/>
          </a:xfrm>
          <a:prstGeom prst="line">
            <a:avLst/>
          </a:prstGeom>
          <a:ln w="10160">
            <a:solidFill>
              <a:srgbClr val="DEC6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1201400" y="6419088"/>
            <a:ext cx="4389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950" b="1">
                <a:solidFill>
                  <a:srgbClr val="37183E"/>
                </a:solidFill>
                <a:latin typeface="Lato"/>
              </a:defRPr>
            </a:pPr>
            <a:r>
              <a:t>A1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56616"/>
            <a:ext cx="256032" cy="50292"/>
          </a:xfrm>
          <a:prstGeom prst="rect">
            <a:avLst/>
          </a:prstGeom>
          <a:solidFill>
            <a:srgbClr val="E000D2"/>
          </a:solidFill>
          <a:ln>
            <a:solidFill>
              <a:srgbClr val="E00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46888"/>
            <a:ext cx="6766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561265"/>
                </a:solidFill>
                <a:latin typeface="Lato"/>
              </a:defRPr>
            </a:pPr>
            <a:r>
              <a:t>A2 / MEMÓRIA DE CÁLCULO · LIQUIDAÇÃO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71632" y="246888"/>
            <a:ext cx="868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50" b="1">
                <a:solidFill>
                  <a:srgbClr val="37183E"/>
                </a:solidFill>
                <a:latin typeface="Lato"/>
              </a:defRPr>
            </a:pPr>
            <a:r>
              <a:t>VÉRTICE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97280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defRPr sz="2700" b="1">
                <a:solidFill>
                  <a:srgbClr val="37183E"/>
                </a:solidFill>
                <a:latin typeface="Lato"/>
              </a:defRPr>
            </a:pPr>
            <a:r>
              <a:t>Liquidação: cenário auditável, não promessa.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7899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450" b="0">
                <a:solidFill>
                  <a:srgbClr val="5D5860"/>
                </a:solidFill>
                <a:latin typeface="Lato"/>
              </a:defRPr>
            </a:pPr>
            <a:r>
              <a:t>Cenário central · 206 de 207 SKUs valorados pelo custo histórico de Vendas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38528"/>
            <a:ext cx="2212848" cy="1234440"/>
          </a:xfrm>
          <a:prstGeom prst="rect">
            <a:avLst/>
          </a:prstGeom>
          <a:solidFill>
            <a:srgbClr val="F7EFFA"/>
          </a:solidFill>
          <a:ln>
            <a:solidFill>
              <a:srgbClr val="F7EF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121408"/>
            <a:ext cx="188366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00" b="1">
                <a:solidFill>
                  <a:srgbClr val="E000D2"/>
                </a:solidFill>
                <a:latin typeface="Lato"/>
              </a:defRPr>
            </a:pPr>
            <a:r>
              <a:t>SALDO DISPONÍVEL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395728"/>
            <a:ext cx="18836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900" b="1">
                <a:solidFill>
                  <a:srgbClr val="37183E"/>
                </a:solidFill>
                <a:latin typeface="Lato"/>
              </a:defRPr>
            </a:pPr>
            <a:r>
              <a:t>65.266 un.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816352"/>
            <a:ext cx="188366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0">
                <a:solidFill>
                  <a:srgbClr val="5D5860"/>
                </a:solidFill>
                <a:latin typeface="Lato"/>
              </a:defRPr>
            </a:pPr>
            <a:r>
              <a:t>descontinuados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43784" y="2304288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2400" b="1">
                <a:solidFill>
                  <a:srgbClr val="E000D2"/>
                </a:solidFill>
                <a:latin typeface="Lato"/>
              </a:defRPr>
            </a:pPr>
            <a:r>
              <a:t>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63824" y="1938528"/>
            <a:ext cx="2212848" cy="1234440"/>
          </a:xfrm>
          <a:prstGeom prst="rect">
            <a:avLst/>
          </a:prstGeom>
          <a:solidFill>
            <a:srgbClr val="F7EFFA"/>
          </a:solidFill>
          <a:ln>
            <a:solidFill>
              <a:srgbClr val="F7EF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28416" y="2121408"/>
            <a:ext cx="188366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00" b="1">
                <a:solidFill>
                  <a:srgbClr val="E000D2"/>
                </a:solidFill>
                <a:latin typeface="Lato"/>
              </a:defRPr>
            </a:pPr>
            <a:r>
              <a:t>SELL-THROUGH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28416" y="2395728"/>
            <a:ext cx="18836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900" b="1">
                <a:solidFill>
                  <a:srgbClr val="37183E"/>
                </a:solidFill>
                <a:latin typeface="Lato"/>
              </a:defRPr>
            </a:pPr>
            <a:r>
              <a:t>50%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28416" y="2816352"/>
            <a:ext cx="188366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0">
                <a:solidFill>
                  <a:srgbClr val="5D5860"/>
                </a:solidFill>
                <a:latin typeface="Lato"/>
              </a:defRPr>
            </a:pPr>
            <a:r>
              <a:t>32.526 un.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58968" y="2304288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2400" b="1">
                <a:solidFill>
                  <a:srgbClr val="E000D2"/>
                </a:solidFill>
                <a:latin typeface="Lato"/>
              </a:defRPr>
            </a:pPr>
            <a:r>
              <a:t>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79008" y="1938528"/>
            <a:ext cx="2212848" cy="1234440"/>
          </a:xfrm>
          <a:prstGeom prst="rect">
            <a:avLst/>
          </a:prstGeom>
          <a:solidFill>
            <a:srgbClr val="F7EFFA"/>
          </a:solidFill>
          <a:ln>
            <a:solidFill>
              <a:srgbClr val="F7EF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0" y="2121408"/>
            <a:ext cx="188366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00" b="1">
                <a:solidFill>
                  <a:srgbClr val="E000D2"/>
                </a:solidFill>
                <a:latin typeface="Lato"/>
              </a:defRPr>
            </a:pPr>
            <a:r>
              <a:t>DESCONTO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2395728"/>
            <a:ext cx="18836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900" b="1">
                <a:solidFill>
                  <a:srgbClr val="37183E"/>
                </a:solidFill>
                <a:latin typeface="Lato"/>
              </a:defRPr>
            </a:pPr>
            <a:r>
              <a:t>30%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2816352"/>
            <a:ext cx="188366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0">
                <a:solidFill>
                  <a:srgbClr val="5D5860"/>
                </a:solidFill>
                <a:latin typeface="Lato"/>
              </a:defRPr>
            </a:pPr>
            <a:r>
              <a:t>sobre preço histórico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74152" y="2304288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2400" b="1">
                <a:solidFill>
                  <a:srgbClr val="E000D2"/>
                </a:solidFill>
                <a:latin typeface="Lato"/>
              </a:defRPr>
            </a:pPr>
            <a:r>
              <a:t>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94192" y="1938528"/>
            <a:ext cx="2212848" cy="1234440"/>
          </a:xfrm>
          <a:prstGeom prst="rect">
            <a:avLst/>
          </a:prstGeom>
          <a:solidFill>
            <a:srgbClr val="F7EFFA"/>
          </a:solidFill>
          <a:ln>
            <a:solidFill>
              <a:srgbClr val="F7EF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58784" y="2121408"/>
            <a:ext cx="188366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00" b="1">
                <a:solidFill>
                  <a:srgbClr val="E000D2"/>
                </a:solidFill>
                <a:latin typeface="Lato"/>
              </a:defRPr>
            </a:pPr>
            <a:r>
              <a:t>DEVOLUÇÕES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58784" y="2395728"/>
            <a:ext cx="18836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900" b="1">
                <a:solidFill>
                  <a:srgbClr val="37183E"/>
                </a:solidFill>
                <a:latin typeface="Lato"/>
              </a:defRPr>
            </a:pPr>
            <a:r>
              <a:t>− R$ 720 mil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58784" y="2816352"/>
            <a:ext cx="188366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0">
                <a:solidFill>
                  <a:srgbClr val="5D5860"/>
                </a:solidFill>
                <a:latin typeface="Lato"/>
              </a:defRPr>
            </a:pPr>
            <a:r>
              <a:t>ajuste por categoria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566160"/>
            <a:ext cx="5303520" cy="1417320"/>
          </a:xfrm>
          <a:prstGeom prst="rect">
            <a:avLst/>
          </a:prstGeom>
          <a:solidFill>
            <a:srgbClr val="561265"/>
          </a:solidFill>
          <a:ln>
            <a:solidFill>
              <a:srgbClr val="5612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3785615"/>
            <a:ext cx="4526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00" b="1">
                <a:solidFill>
                  <a:srgbClr val="E000D2"/>
                </a:solidFill>
                <a:latin typeface="Lato"/>
              </a:defRPr>
            </a:pPr>
            <a:r>
              <a:t>RECEITA ESTIMADA PÓS-DEVOLUÇÕES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" y="4105656"/>
            <a:ext cx="2834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3100" b="1">
                <a:solidFill>
                  <a:srgbClr val="FFFFFF"/>
                </a:solidFill>
                <a:latin typeface="Lato"/>
              </a:defRPr>
            </a:pPr>
            <a:r>
              <a:t>R$ 4,14M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54680" y="4160520"/>
            <a:ext cx="23317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50" b="0">
                <a:solidFill>
                  <a:srgbClr val="FFFFFF"/>
                </a:solidFill>
                <a:latin typeface="Lato"/>
              </a:defRPr>
            </a:pPr>
            <a:r>
              <a:t>Entrada de receita no cenário — não benefício líquido do projeto.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08192" y="3566160"/>
            <a:ext cx="2606040" cy="1417320"/>
          </a:xfrm>
          <a:prstGeom prst="rect">
            <a:avLst/>
          </a:prstGeom>
          <a:solidFill>
            <a:srgbClr val="F7EFFA"/>
          </a:solidFill>
          <a:ln>
            <a:solidFill>
              <a:srgbClr val="F7EF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45936" y="3785615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1">
                <a:solidFill>
                  <a:srgbClr val="E000D2"/>
                </a:solidFill>
                <a:latin typeface="Lato"/>
              </a:defRPr>
            </a:pPr>
            <a:r>
              <a:t>CUSTO HISTÓRICO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45936" y="4105656"/>
            <a:ext cx="20116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300" b="1">
                <a:solidFill>
                  <a:srgbClr val="37183E"/>
                </a:solidFill>
                <a:latin typeface="Lato"/>
              </a:defRPr>
            </a:pPr>
            <a:r>
              <a:t>R$ 3,03M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45936" y="4572000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0">
                <a:solidFill>
                  <a:srgbClr val="5D5860"/>
                </a:solidFill>
                <a:latin typeface="Lato"/>
              </a:defRPr>
            </a:pPr>
            <a:r>
              <a:t>+ R$ 143 mil de frete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961120" y="3566160"/>
            <a:ext cx="2679192" cy="1417320"/>
          </a:xfrm>
          <a:prstGeom prst="rect">
            <a:avLst/>
          </a:prstGeom>
          <a:solidFill>
            <a:srgbClr val="EFE0F4"/>
          </a:solidFill>
          <a:ln>
            <a:solidFill>
              <a:srgbClr val="EFE0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98864" y="3785615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1">
                <a:solidFill>
                  <a:srgbClr val="E000D2"/>
                </a:solidFill>
                <a:latin typeface="Lato"/>
              </a:defRPr>
            </a:pPr>
            <a:r>
              <a:t>CONTRIBUIÇÃO ESTIMADA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98864" y="4105656"/>
            <a:ext cx="2194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300" b="1">
                <a:solidFill>
                  <a:srgbClr val="37183E"/>
                </a:solidFill>
                <a:latin typeface="Lato"/>
              </a:defRPr>
            </a:pPr>
            <a:r>
              <a:t>R$ 969 mil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98864" y="4572000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0">
                <a:solidFill>
                  <a:srgbClr val="5D5860"/>
                </a:solidFill>
                <a:latin typeface="Lato"/>
              </a:defRPr>
            </a:pPr>
            <a:r>
              <a:t>23,4% da receita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5321808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1">
                <a:solidFill>
                  <a:srgbClr val="E000D2"/>
                </a:solidFill>
                <a:latin typeface="Lato"/>
              </a:defRPr>
            </a:pPr>
            <a:r>
              <a:t>LIMITES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80160" y="5266944"/>
            <a:ext cx="100584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50" b="0">
                <a:solidFill>
                  <a:srgbClr val="5D5860"/>
                </a:solidFill>
                <a:latin typeface="Lato"/>
              </a:defRPr>
            </a:pPr>
            <a:r>
              <a:t>Sem impostos, comissões, logística reversa, retorno físico ou elasticidade de preço. Estoque sem data de snapshot.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48640" y="6327648"/>
            <a:ext cx="11091672" cy="0"/>
          </a:xfrm>
          <a:prstGeom prst="line">
            <a:avLst/>
          </a:prstGeom>
          <a:ln w="10160">
            <a:solidFill>
              <a:srgbClr val="DEC6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11201400" y="6419088"/>
            <a:ext cx="4389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950" b="1">
                <a:solidFill>
                  <a:srgbClr val="37183E"/>
                </a:solidFill>
                <a:latin typeface="Lato"/>
              </a:defRPr>
            </a:pPr>
            <a:r>
              <a:t>A2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56616"/>
            <a:ext cx="256032" cy="50292"/>
          </a:xfrm>
          <a:prstGeom prst="rect">
            <a:avLst/>
          </a:prstGeom>
          <a:solidFill>
            <a:srgbClr val="E000D2"/>
          </a:solidFill>
          <a:ln>
            <a:solidFill>
              <a:srgbClr val="E00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46888"/>
            <a:ext cx="6766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561265"/>
                </a:solidFill>
                <a:latin typeface="Lato"/>
              </a:defRPr>
            </a:pPr>
            <a:r>
              <a:t>A3 / EVIDÊNCIA · DESCONTOS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71632" y="246888"/>
            <a:ext cx="868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50" b="1">
                <a:solidFill>
                  <a:srgbClr val="37183E"/>
                </a:solidFill>
                <a:latin typeface="Lato"/>
              </a:defRPr>
            </a:pPr>
            <a:r>
              <a:t>VÉRTICE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97280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defRPr sz="2550" b="1">
                <a:solidFill>
                  <a:srgbClr val="37183E"/>
                </a:solidFill>
                <a:latin typeface="Lato"/>
              </a:defRPr>
            </a:pPr>
            <a:r>
              <a:t>Desconto corrói margem; efeito no volume segue inconclusivo.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4206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1">
                <a:solidFill>
                  <a:srgbClr val="E000D2"/>
                </a:solidFill>
                <a:latin typeface="Lato"/>
              </a:defRPr>
            </a:pPr>
            <a:r>
              <a:t>MARGEM DE CONTRIBUIÇÃO PONDERADA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9875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50" b="1">
                <a:solidFill>
                  <a:srgbClr val="37183E"/>
                </a:solidFill>
                <a:latin typeface="Lato"/>
              </a:defRPr>
            </a:pPr>
            <a:r>
              <a:t>Sem desconto</a:t>
            </a:r>
          </a:p>
        </p:txBody>
      </p:sp>
      <p:sp>
        <p:nvSpPr>
          <p:cNvPr id="8" name="Rectangle 7"/>
          <p:cNvSpPr/>
          <p:nvPr/>
        </p:nvSpPr>
        <p:spPr>
          <a:xfrm>
            <a:off x="1627632" y="1956816"/>
            <a:ext cx="3886200" cy="310896"/>
          </a:xfrm>
          <a:prstGeom prst="rect">
            <a:avLst/>
          </a:prstGeom>
          <a:solidFill>
            <a:srgbClr val="EFE0F4"/>
          </a:solidFill>
          <a:ln>
            <a:solidFill>
              <a:srgbClr val="EFE0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627632" y="1956816"/>
            <a:ext cx="3763137" cy="310896"/>
          </a:xfrm>
          <a:prstGeom prst="rect">
            <a:avLst/>
          </a:prstGeom>
          <a:solidFill>
            <a:srgbClr val="561265"/>
          </a:solidFill>
          <a:ln>
            <a:solidFill>
              <a:srgbClr val="5612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6128" y="1993392"/>
            <a:ext cx="5669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150" b="1">
                <a:solidFill>
                  <a:srgbClr val="37183E"/>
                </a:solidFill>
                <a:latin typeface="Lato"/>
              </a:defRPr>
            </a:pPr>
            <a:r>
              <a:t>58,1%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33472"/>
            <a:ext cx="9875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50" b="1">
                <a:solidFill>
                  <a:srgbClr val="37183E"/>
                </a:solidFill>
                <a:latin typeface="Lato"/>
              </a:defRPr>
            </a:pPr>
            <a:r>
              <a:t>5–10%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27632" y="2578608"/>
            <a:ext cx="3886200" cy="310896"/>
          </a:xfrm>
          <a:prstGeom prst="rect">
            <a:avLst/>
          </a:prstGeom>
          <a:solidFill>
            <a:srgbClr val="EFE0F4"/>
          </a:solidFill>
          <a:ln>
            <a:solidFill>
              <a:srgbClr val="EFE0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627632" y="2578608"/>
            <a:ext cx="3549395" cy="310896"/>
          </a:xfrm>
          <a:prstGeom prst="rect">
            <a:avLst/>
          </a:prstGeom>
          <a:solidFill>
            <a:srgbClr val="561265"/>
          </a:solidFill>
          <a:ln>
            <a:solidFill>
              <a:srgbClr val="5612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96128" y="2615184"/>
            <a:ext cx="5669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150" b="1">
                <a:solidFill>
                  <a:srgbClr val="37183E"/>
                </a:solidFill>
                <a:latin typeface="Lato"/>
              </a:defRPr>
            </a:pPr>
            <a:r>
              <a:t>54,8%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255264"/>
            <a:ext cx="9875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50" b="1">
                <a:solidFill>
                  <a:srgbClr val="37183E"/>
                </a:solidFill>
                <a:latin typeface="Lato"/>
              </a:defRPr>
            </a:pPr>
            <a:r>
              <a:t>20–25%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27632" y="3200400"/>
            <a:ext cx="3886200" cy="310896"/>
          </a:xfrm>
          <a:prstGeom prst="rect">
            <a:avLst/>
          </a:prstGeom>
          <a:solidFill>
            <a:srgbClr val="EFE0F4"/>
          </a:solidFill>
          <a:ln>
            <a:solidFill>
              <a:srgbClr val="EFE0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627632" y="3200400"/>
            <a:ext cx="2940558" cy="310896"/>
          </a:xfrm>
          <a:prstGeom prst="rect">
            <a:avLst/>
          </a:prstGeom>
          <a:solidFill>
            <a:srgbClr val="561265"/>
          </a:solidFill>
          <a:ln>
            <a:solidFill>
              <a:srgbClr val="5612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96128" y="3236976"/>
            <a:ext cx="5669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150" b="1">
                <a:solidFill>
                  <a:srgbClr val="37183E"/>
                </a:solidFill>
                <a:latin typeface="Lato"/>
              </a:defRPr>
            </a:pPr>
            <a:r>
              <a:t>45,4%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877056"/>
            <a:ext cx="9875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50" b="1">
                <a:solidFill>
                  <a:srgbClr val="37183E"/>
                </a:solidFill>
                <a:latin typeface="Lato"/>
              </a:defRPr>
            </a:pPr>
            <a:r>
              <a:t>35–40%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27632" y="3822192"/>
            <a:ext cx="3886200" cy="310896"/>
          </a:xfrm>
          <a:prstGeom prst="rect">
            <a:avLst/>
          </a:prstGeom>
          <a:solidFill>
            <a:srgbClr val="EFE0F4"/>
          </a:solidFill>
          <a:ln>
            <a:solidFill>
              <a:srgbClr val="EFE0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627632" y="3822192"/>
            <a:ext cx="2085594" cy="310896"/>
          </a:xfrm>
          <a:prstGeom prst="rect">
            <a:avLst/>
          </a:prstGeom>
          <a:solidFill>
            <a:srgbClr val="561265"/>
          </a:solidFill>
          <a:ln>
            <a:solidFill>
              <a:srgbClr val="5612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96128" y="3858768"/>
            <a:ext cx="5669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150" b="1">
                <a:solidFill>
                  <a:srgbClr val="37183E"/>
                </a:solidFill>
                <a:latin typeface="Lato"/>
              </a:defRPr>
            </a:pPr>
            <a:r>
              <a:t>32,2%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46520" y="1554480"/>
            <a:ext cx="5193792" cy="3182112"/>
          </a:xfrm>
          <a:prstGeom prst="rect">
            <a:avLst/>
          </a:prstGeom>
          <a:solidFill>
            <a:srgbClr val="F7EFFA"/>
          </a:solidFill>
          <a:ln>
            <a:solidFill>
              <a:srgbClr val="F7EF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0" y="1847088"/>
            <a:ext cx="4389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1">
                <a:solidFill>
                  <a:srgbClr val="E000D2"/>
                </a:solidFill>
                <a:latin typeface="Lato"/>
              </a:defRPr>
            </a:pPr>
            <a:r>
              <a:t>O QUE A BASE SUSTENTA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2221992"/>
            <a:ext cx="15727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800" b="1">
                <a:solidFill>
                  <a:srgbClr val="37183E"/>
                </a:solidFill>
                <a:latin typeface="Lato"/>
              </a:defRPr>
            </a:pPr>
            <a:r>
              <a:t>3,51 un.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5048" y="2249424"/>
            <a:ext cx="2852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50" b="0">
                <a:solidFill>
                  <a:srgbClr val="5D5860"/>
                </a:solidFill>
                <a:latin typeface="Lato"/>
              </a:defRPr>
            </a:pPr>
            <a:r>
              <a:t>por pedido, com ou sem desconto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2880360"/>
            <a:ext cx="15727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800" b="1">
                <a:solidFill>
                  <a:srgbClr val="37183E"/>
                </a:solidFill>
                <a:latin typeface="Lato"/>
              </a:defRPr>
            </a:pPr>
            <a:r>
              <a:t>−0,026 un.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5048" y="2907792"/>
            <a:ext cx="2852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50" b="0">
                <a:solidFill>
                  <a:srgbClr val="5D5860"/>
                </a:solidFill>
                <a:latin typeface="Lato"/>
              </a:defRPr>
            </a:pPr>
            <a:r>
              <a:t>diferença within-SKU ponderada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3538728"/>
            <a:ext cx="15727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800" b="1">
                <a:solidFill>
                  <a:srgbClr val="37183E"/>
                </a:solidFill>
                <a:latin typeface="Lato"/>
              </a:defRPr>
            </a:pPr>
            <a:r>
              <a:t>R$ 579 mil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5048" y="3566160"/>
            <a:ext cx="2852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50" b="0">
                <a:solidFill>
                  <a:srgbClr val="5D5860"/>
                </a:solidFill>
                <a:latin typeface="Lato"/>
              </a:defRPr>
            </a:pPr>
            <a:r>
              <a:t>teto mecânico de 15% nas aprovadas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4224528"/>
            <a:ext cx="437083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0">
                <a:solidFill>
                  <a:srgbClr val="827B85"/>
                </a:solidFill>
                <a:latin typeface="Lato"/>
              </a:defRPr>
            </a:pPr>
            <a:r>
              <a:t>O valor de R$ 579 mil é limite aritmético no período observado; não inclui reação de demanda.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5074920"/>
            <a:ext cx="11091672" cy="832104"/>
          </a:xfrm>
          <a:prstGeom prst="rect">
            <a:avLst/>
          </a:prstGeom>
          <a:solidFill>
            <a:srgbClr val="561265"/>
          </a:solidFill>
          <a:ln>
            <a:solidFill>
              <a:srgbClr val="5612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4672" y="5321808"/>
            <a:ext cx="9326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00" b="1">
                <a:solidFill>
                  <a:srgbClr val="E000D2"/>
                </a:solidFill>
                <a:latin typeface="Lato"/>
              </a:defRPr>
            </a:pPr>
            <a:r>
              <a:t>DECISÃO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91640" y="5257800"/>
            <a:ext cx="94914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1">
                <a:solidFill>
                  <a:srgbClr val="FFFFFF"/>
                </a:solidFill>
                <a:latin typeface="Lato"/>
              </a:defRPr>
            </a:pPr>
            <a:r>
              <a:t>Pilotar teto por SKU com grupo de controle; reconhecer benefício financeiro somente após medir elasticidade.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48640" y="6327648"/>
            <a:ext cx="11091672" cy="0"/>
          </a:xfrm>
          <a:prstGeom prst="line">
            <a:avLst/>
          </a:prstGeom>
          <a:ln w="10160">
            <a:solidFill>
              <a:srgbClr val="DEC6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11201400" y="6419088"/>
            <a:ext cx="4389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950" b="1">
                <a:solidFill>
                  <a:srgbClr val="37183E"/>
                </a:solidFill>
                <a:latin typeface="Lato"/>
              </a:defRPr>
            </a:pPr>
            <a:r>
              <a:t>A3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56616"/>
            <a:ext cx="256032" cy="50292"/>
          </a:xfrm>
          <a:prstGeom prst="rect">
            <a:avLst/>
          </a:prstGeom>
          <a:solidFill>
            <a:srgbClr val="E000D2"/>
          </a:solidFill>
          <a:ln>
            <a:solidFill>
              <a:srgbClr val="E00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46888"/>
            <a:ext cx="6766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561265"/>
                </a:solidFill>
                <a:latin typeface="Lato"/>
              </a:defRPr>
            </a:pPr>
            <a:r>
              <a:t>A4 / POR QUE SEQUENCIAR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71632" y="246888"/>
            <a:ext cx="868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50" b="1">
                <a:solidFill>
                  <a:srgbClr val="37183E"/>
                </a:solidFill>
                <a:latin typeface="Lato"/>
              </a:defRPr>
            </a:pPr>
            <a:r>
              <a:t>VÉRTICE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97280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defRPr sz="2700" b="1">
                <a:solidFill>
                  <a:srgbClr val="37183E"/>
                </a:solidFill>
                <a:latin typeface="Lato"/>
              </a:defRPr>
            </a:pPr>
            <a:r>
              <a:t>Marketing e CRM entram depois da conciliação.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500" b="0">
                <a:solidFill>
                  <a:srgbClr val="5D5860"/>
                </a:solidFill>
                <a:latin typeface="Lato"/>
              </a:defRPr>
            </a:pPr>
            <a:r>
              <a:t>O diagnóstico existe; a otimização ainda não seria auditável.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65376"/>
            <a:ext cx="5376672" cy="3236976"/>
          </a:xfrm>
          <a:prstGeom prst="rect">
            <a:avLst/>
          </a:prstGeom>
          <a:solidFill>
            <a:srgbClr val="F7EFFA"/>
          </a:solidFill>
          <a:ln>
            <a:solidFill>
              <a:srgbClr val="F7EF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39696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1">
                <a:solidFill>
                  <a:srgbClr val="E000D2"/>
                </a:solidFill>
                <a:latin typeface="Lato"/>
              </a:defRPr>
            </a:pPr>
            <a:r>
              <a:t>MARKETING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96312"/>
            <a:ext cx="16002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700" b="1">
                <a:solidFill>
                  <a:srgbClr val="37183E"/>
                </a:solidFill>
                <a:latin typeface="Lato"/>
              </a:defRPr>
            </a:pPr>
            <a:r>
              <a:t>38,2M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95728" y="2551176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50" b="0">
                <a:solidFill>
                  <a:srgbClr val="5D5860"/>
                </a:solidFill>
                <a:latin typeface="Lato"/>
              </a:defRPr>
            </a:pPr>
            <a:r>
              <a:t>conversões declaradas em campanhas iniciadas em 2023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16002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100" b="1">
                <a:solidFill>
                  <a:srgbClr val="37183E"/>
                </a:solidFill>
                <a:latin typeface="Lato"/>
              </a:defRPr>
            </a:pPr>
            <a:r>
              <a:t>26,5 mil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95728" y="3246120"/>
            <a:ext cx="29718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50" b="0">
                <a:solidFill>
                  <a:srgbClr val="5D5860"/>
                </a:solidFill>
                <a:latin typeface="Lato"/>
              </a:defRPr>
            </a:pPr>
            <a:r>
              <a:t>registros de venda em 2023 — sem campaign_id, UTM ou janela de atribuição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22960" y="4005072"/>
            <a:ext cx="4773168" cy="0"/>
          </a:xfrm>
          <a:prstGeom prst="line">
            <a:avLst/>
          </a:prstGeom>
          <a:ln w="10160">
            <a:solidFill>
              <a:srgbClr val="DEC6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22960" y="4242816"/>
            <a:ext cx="12070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1">
                <a:solidFill>
                  <a:srgbClr val="E000D2"/>
                </a:solidFill>
                <a:latin typeface="Lato"/>
              </a:defRPr>
            </a:pPr>
            <a:r>
              <a:t>PRÓXIMO PASSO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4187952"/>
            <a:ext cx="329184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250" b="1">
                <a:solidFill>
                  <a:srgbClr val="37183E"/>
                </a:solidFill>
                <a:latin typeface="Lato"/>
              </a:defRPr>
            </a:pPr>
            <a:r>
              <a:t>Instrumentar checkout e conciliar mídia → pedido → margem antes de realocar verba.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54496" y="1865376"/>
            <a:ext cx="5385816" cy="3236976"/>
          </a:xfrm>
          <a:prstGeom prst="rect">
            <a:avLst/>
          </a:prstGeom>
          <a:solidFill>
            <a:srgbClr val="F7EFFA"/>
          </a:solidFill>
          <a:ln>
            <a:solidFill>
              <a:srgbClr val="F7EF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28816" y="2139696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1">
                <a:solidFill>
                  <a:srgbClr val="E000D2"/>
                </a:solidFill>
                <a:latin typeface="Lato"/>
              </a:defRPr>
            </a:pPr>
            <a:r>
              <a:t>CRM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8816" y="2496312"/>
            <a:ext cx="21031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700" b="1">
                <a:solidFill>
                  <a:srgbClr val="37183E"/>
                </a:solidFill>
                <a:latin typeface="Lato"/>
              </a:defRPr>
            </a:pPr>
            <a:r>
              <a:t>346 / 15 mil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13648" y="2551176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50" b="0">
                <a:solidFill>
                  <a:srgbClr val="5D5860"/>
                </a:solidFill>
                <a:latin typeface="Lato"/>
              </a:defRPr>
            </a:pPr>
            <a:r>
              <a:t>clientes aparecem no extrato de Vendas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8816" y="3246120"/>
            <a:ext cx="1417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100" b="1">
                <a:solidFill>
                  <a:srgbClr val="37183E"/>
                </a:solidFill>
                <a:latin typeface="Lato"/>
              </a:defRPr>
            </a:pPr>
            <a:r>
              <a:t>40,6%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10144" y="3246120"/>
            <a:ext cx="30632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50" b="0">
                <a:solidFill>
                  <a:srgbClr val="5D5860"/>
                </a:solidFill>
                <a:latin typeface="Lato"/>
              </a:defRPr>
            </a:pPr>
            <a:r>
              <a:t>dos registros estão concentrados em um único cliente; LTV não reconcilia com o ERP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528816" y="4005072"/>
            <a:ext cx="4782312" cy="0"/>
          </a:xfrm>
          <a:prstGeom prst="line">
            <a:avLst/>
          </a:prstGeom>
          <a:ln w="10160">
            <a:solidFill>
              <a:srgbClr val="DEC6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528816" y="4242816"/>
            <a:ext cx="12070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1">
                <a:solidFill>
                  <a:srgbClr val="E000D2"/>
                </a:solidFill>
                <a:latin typeface="Lato"/>
              </a:defRPr>
            </a:pPr>
            <a:r>
              <a:t>PRÓXIMO PASSO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08975" y="4187952"/>
            <a:ext cx="324612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250" b="1">
                <a:solidFill>
                  <a:srgbClr val="37183E"/>
                </a:solidFill>
                <a:latin typeface="Lato"/>
              </a:defRPr>
            </a:pPr>
            <a:r>
              <a:t>Resolver identidade do cliente e recomputar valor observado antes de segmentar incentivos.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376672"/>
            <a:ext cx="11091672" cy="548640"/>
          </a:xfrm>
          <a:prstGeom prst="rect">
            <a:avLst/>
          </a:prstGeom>
          <a:solidFill>
            <a:srgbClr val="561265"/>
          </a:solidFill>
          <a:ln>
            <a:solidFill>
              <a:srgbClr val="5612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" y="5550408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1">
                <a:solidFill>
                  <a:srgbClr val="E000D2"/>
                </a:solidFill>
                <a:latin typeface="Lato"/>
              </a:defRPr>
            </a:pPr>
            <a:r>
              <a:t>RESPOSTA À BANCA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31136" y="5495544"/>
            <a:ext cx="901598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250" b="1">
                <a:solidFill>
                  <a:srgbClr val="FFFFFF"/>
                </a:solidFill>
                <a:latin typeface="Lato"/>
              </a:defRPr>
            </a:pPr>
            <a:r>
              <a:t>Não otimizamos canal ou segmento porque isso criaria falsa precisão; priorizamos primeiro o dado conciliável.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48640" y="6327648"/>
            <a:ext cx="11091672" cy="0"/>
          </a:xfrm>
          <a:prstGeom prst="line">
            <a:avLst/>
          </a:prstGeom>
          <a:ln w="10160">
            <a:solidFill>
              <a:srgbClr val="DEC6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1201400" y="6419088"/>
            <a:ext cx="4389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950" b="1">
                <a:solidFill>
                  <a:srgbClr val="37183E"/>
                </a:solidFill>
                <a:latin typeface="Lato"/>
              </a:defRPr>
            </a:pPr>
            <a:r>
              <a:t>A4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