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56616"/>
            <a:ext cx="256032" cy="50292"/>
          </a:xfrm>
          <a:prstGeom prst="rect">
            <a:avLst/>
          </a:prstGeom>
          <a:solidFill>
            <a:srgbClr val="E000D2"/>
          </a:solidFill>
          <a:ln>
            <a:solidFill>
              <a:srgbClr val="E00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"/>
            <a:ext cx="6766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561265"/>
                </a:solidFill>
                <a:latin typeface="Lato"/>
              </a:defRPr>
            </a:pPr>
            <a:r>
              <a:t>14 / DELIBERAÇÕES E 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71632" y="246888"/>
            <a:ext cx="868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50" b="1">
                <a:solidFill>
                  <a:srgbClr val="37183E"/>
                </a:solidFill>
                <a:latin typeface="Lato"/>
              </a:defRPr>
            </a:pPr>
            <a:r>
              <a:t>VÉRTICE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94944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600" b="1">
                <a:solidFill>
                  <a:srgbClr val="37183E"/>
                </a:solidFill>
                <a:latin typeface="Lato"/>
              </a:defRPr>
            </a:pPr>
            <a:r>
              <a:t>Decisões necessárias para início da execução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0">
                <a:solidFill>
                  <a:srgbClr val="5D5860"/>
                </a:solidFill>
                <a:latin typeface="Lato"/>
              </a:defRPr>
            </a:pPr>
            <a:r>
              <a:t>Aprovação orçamentária e alocação de equipe para o plano de 90 dias.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3493008" cy="3108960"/>
          </a:xfrm>
          <a:prstGeom prst="rect">
            <a:avLst/>
          </a:prstGeom>
          <a:solidFill>
            <a:srgbClr val="F7EFFA"/>
          </a:solidFill>
          <a:ln>
            <a:solidFill>
              <a:srgbClr val="F7EF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74519"/>
            <a:ext cx="3493008" cy="73152"/>
          </a:xfrm>
          <a:prstGeom prst="rect">
            <a:avLst/>
          </a:prstGeom>
          <a:solidFill>
            <a:srgbClr val="561265"/>
          </a:solidFill>
          <a:ln>
            <a:solidFill>
              <a:srgbClr val="5612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48840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00" b="1">
                <a:solidFill>
                  <a:srgbClr val="E000D2"/>
                </a:solidFill>
                <a:latin typeface="Lato"/>
              </a:defRPr>
            </a:pPr>
            <a:r>
              <a:t>01 / ORÇAMENTO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496312"/>
            <a:ext cx="2980944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000" b="1">
                <a:solidFill>
                  <a:srgbClr val="37183E"/>
                </a:solidFill>
                <a:latin typeface="Lato"/>
              </a:defRPr>
            </a:pPr>
            <a:r>
              <a:t>R$ 350 mil (Ano 1)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04672" y="3172968"/>
            <a:ext cx="2980943" cy="0"/>
          </a:xfrm>
          <a:prstGeom prst="line">
            <a:avLst/>
          </a:prstGeom>
          <a:ln w="10160">
            <a:solidFill>
              <a:srgbClr val="DEC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04672" y="3383280"/>
            <a:ext cx="2980944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defRPr sz="1250" b="0">
                <a:solidFill>
                  <a:srgbClr val="5D5860"/>
                </a:solidFill>
                <a:latin typeface="Lato"/>
              </a:defRPr>
            </a:pPr>
            <a:r>
              <a:t>Cobre squad de 90 dias, infraestrutura de dados e mensageria. Retorno recorrente estimado em R$ 1,86M/ano.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399" y="1874519"/>
            <a:ext cx="3493008" cy="3108960"/>
          </a:xfrm>
          <a:prstGeom prst="rect">
            <a:avLst/>
          </a:prstGeom>
          <a:solidFill>
            <a:srgbClr val="F7EFFA"/>
          </a:solidFill>
          <a:ln>
            <a:solidFill>
              <a:srgbClr val="F7EF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399" y="1874519"/>
            <a:ext cx="3493008" cy="73152"/>
          </a:xfrm>
          <a:prstGeom prst="rect">
            <a:avLst/>
          </a:prstGeom>
          <a:solidFill>
            <a:srgbClr val="561265"/>
          </a:solidFill>
          <a:ln>
            <a:solidFill>
              <a:srgbClr val="5612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1" y="2148840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00" b="1">
                <a:solidFill>
                  <a:srgbClr val="E000D2"/>
                </a:solidFill>
                <a:latin typeface="Lato"/>
              </a:defRPr>
            </a:pPr>
            <a:r>
              <a:t>02 / EQUIPE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9431" y="2496312"/>
            <a:ext cx="2980944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000" b="1">
                <a:solidFill>
                  <a:srgbClr val="37183E"/>
                </a:solidFill>
                <a:latin typeface="Lato"/>
              </a:defRPr>
            </a:pPr>
            <a:r>
              <a:t>Squad dedicada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99431" y="3172968"/>
            <a:ext cx="2980944" cy="0"/>
          </a:xfrm>
          <a:prstGeom prst="line">
            <a:avLst/>
          </a:prstGeom>
          <a:ln w="10160">
            <a:solidFill>
              <a:srgbClr val="DEC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99431" y="3383280"/>
            <a:ext cx="2980944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defRPr sz="1250" b="0">
                <a:solidFill>
                  <a:srgbClr val="5D5860"/>
                </a:solidFill>
                <a:latin typeface="Lato"/>
              </a:defRPr>
            </a:pPr>
            <a:r>
              <a:t>Alocação de engenharia de dados, supply chain, comercial e atendimento em ciclos quinzenais de entrega.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59" y="1874519"/>
            <a:ext cx="3493008" cy="3108960"/>
          </a:xfrm>
          <a:prstGeom prst="rect">
            <a:avLst/>
          </a:prstGeom>
          <a:solidFill>
            <a:srgbClr val="F7EFFA"/>
          </a:solidFill>
          <a:ln>
            <a:solidFill>
              <a:srgbClr val="F7EF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59" y="1874519"/>
            <a:ext cx="3493008" cy="73152"/>
          </a:xfrm>
          <a:prstGeom prst="rect">
            <a:avLst/>
          </a:prstGeom>
          <a:solidFill>
            <a:srgbClr val="561265"/>
          </a:solidFill>
          <a:ln>
            <a:solidFill>
              <a:srgbClr val="5612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94191" y="2148840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00" b="1">
                <a:solidFill>
                  <a:srgbClr val="E000D2"/>
                </a:solidFill>
                <a:latin typeface="Lato"/>
              </a:defRPr>
            </a:pPr>
            <a:r>
              <a:t>03 / CONTROLE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1" y="2496312"/>
            <a:ext cx="2980944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000" b="1">
                <a:solidFill>
                  <a:srgbClr val="37183E"/>
                </a:solidFill>
                <a:latin typeface="Lato"/>
              </a:defRPr>
            </a:pPr>
            <a:r>
              <a:t>Marcos em 30, 60 e 90 dias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394191" y="3172968"/>
            <a:ext cx="2980944" cy="0"/>
          </a:xfrm>
          <a:prstGeom prst="line">
            <a:avLst/>
          </a:prstGeom>
          <a:ln w="10160">
            <a:solidFill>
              <a:srgbClr val="DEC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394191" y="3383280"/>
            <a:ext cx="2980944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defRPr sz="1250" b="0">
                <a:solidFill>
                  <a:srgbClr val="5D5860"/>
                </a:solidFill>
                <a:latin typeface="Lato"/>
              </a:defRPr>
            </a:pPr>
            <a:r>
              <a:t>Continuidade condicionada a critérios técnicos: acurácia de estoque, volume de vendas e redução de chamados.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257800"/>
            <a:ext cx="11091672" cy="822960"/>
          </a:xfrm>
          <a:prstGeom prst="rect">
            <a:avLst/>
          </a:prstGeom>
          <a:solidFill>
            <a:srgbClr val="561265"/>
          </a:solidFill>
          <a:ln>
            <a:solidFill>
              <a:srgbClr val="5612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404104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00" b="1">
                <a:solidFill>
                  <a:srgbClr val="E000D2"/>
                </a:solidFill>
                <a:latin typeface="Lato"/>
              </a:defRPr>
            </a:pPr>
            <a:r>
              <a:t>AÇÃO IMEDIATA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660136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FFFFFF"/>
                </a:solidFill>
                <a:latin typeface="Lato"/>
              </a:defRPr>
            </a:pPr>
            <a:r>
              <a:t>Aprovar o início da Fase 1 (saneamento de estoque) e agendar a primeira revisão técnica para o Dia 30.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10160">
            <a:solidFill>
              <a:srgbClr val="DEC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48640" y="6419088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827B85"/>
                </a:solidFill>
                <a:latin typeface="Lato"/>
              </a:defRPr>
            </a:pPr>
            <a:r>
              <a:t>Fonte: case Vértice • Bootcamp EloGroup 2026 • Grupo 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01400" y="6419088"/>
            <a:ext cx="4389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950" b="1">
                <a:solidFill>
                  <a:srgbClr val="37183E"/>
                </a:solidFill>
                <a:latin typeface="Lato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56616"/>
            <a:ext cx="256032" cy="50292"/>
          </a:xfrm>
          <a:prstGeom prst="rect">
            <a:avLst/>
          </a:prstGeom>
          <a:solidFill>
            <a:srgbClr val="E000D2"/>
          </a:solidFill>
          <a:ln>
            <a:solidFill>
              <a:srgbClr val="E00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"/>
            <a:ext cx="6766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561265"/>
                </a:solidFill>
                <a:latin typeface="Lato"/>
              </a:defRPr>
            </a:pPr>
            <a:r>
              <a:t>APÊNDICE / MATRIZ DE SENSIBILIDADE · LIQUIDAÇÃO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71632" y="246888"/>
            <a:ext cx="868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50" b="1">
                <a:solidFill>
                  <a:srgbClr val="37183E"/>
                </a:solidFill>
                <a:latin typeface="Lato"/>
              </a:defRPr>
            </a:pPr>
            <a:r>
              <a:t>VÉRTICE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94944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450" b="1">
                <a:solidFill>
                  <a:srgbClr val="37183E"/>
                </a:solidFill>
                <a:latin typeface="Lato"/>
              </a:defRPr>
            </a:pPr>
            <a:r>
              <a:t>Sensibilidade da queima de estoque descontinuado em 90 dias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5D5860"/>
                </a:solidFill>
                <a:latin typeface="Lato"/>
              </a:defRPr>
            </a:pPr>
            <a:r>
              <a:t>Simulação sobre 206 SKUs elegíveis (65.052 un.) com desconto de 30% e deduções de devolução.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1">
                <a:solidFill>
                  <a:srgbClr val="E000D2"/>
                </a:solidFill>
                <a:latin typeface="Lato"/>
              </a:defRPr>
            </a:pPr>
            <a:r>
              <a:t>CENÁRIO SELL-THROUGH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82880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1">
                <a:solidFill>
                  <a:srgbClr val="E000D2"/>
                </a:solidFill>
                <a:latin typeface="Lato"/>
              </a:defRPr>
            </a:pPr>
            <a:r>
              <a:t>UNIDADES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8288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1">
                <a:solidFill>
                  <a:srgbClr val="E000D2"/>
                </a:solidFill>
                <a:latin typeface="Lato"/>
              </a:defRPr>
            </a:pPr>
            <a:r>
              <a:t>RECEITA BRUTA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1">
                <a:solidFill>
                  <a:srgbClr val="E000D2"/>
                </a:solidFill>
                <a:latin typeface="Lato"/>
              </a:defRPr>
            </a:pPr>
            <a:r>
              <a:t>ESTORNO DEVOLUÇÃO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1">
                <a:solidFill>
                  <a:srgbClr val="E000D2"/>
                </a:solidFill>
                <a:latin typeface="Lato"/>
              </a:defRPr>
            </a:pPr>
            <a:r>
              <a:t>RECEITA LÍQUIDA (CAIXA)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1828800"/>
            <a:ext cx="1490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1">
                <a:solidFill>
                  <a:srgbClr val="E000D2"/>
                </a:solidFill>
                <a:latin typeface="Lato"/>
              </a:defRPr>
            </a:pPr>
            <a:r>
              <a:t>CONTRIBUIÇÃO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2103120"/>
            <a:ext cx="11091672" cy="0"/>
          </a:xfrm>
          <a:prstGeom prst="line">
            <a:avLst/>
          </a:prstGeom>
          <a:ln w="12700">
            <a:solidFill>
              <a:srgbClr val="DEC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48640" y="2194560"/>
            <a:ext cx="11091672" cy="713232"/>
          </a:xfrm>
          <a:prstGeom prst="rect">
            <a:avLst/>
          </a:prstGeom>
          <a:solidFill>
            <a:srgbClr val="F7EFFA"/>
          </a:solidFill>
          <a:ln>
            <a:solidFill>
              <a:srgbClr val="F7EF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395728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37183E"/>
                </a:solidFill>
                <a:latin typeface="Lato"/>
              </a:defRPr>
            </a:pPr>
            <a:r>
              <a:t>Conservador (25%)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395728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250" b="0">
                <a:solidFill>
                  <a:srgbClr val="5D5860"/>
                </a:solidFill>
                <a:latin typeface="Lato"/>
              </a:defRPr>
            </a:pPr>
            <a:r>
              <a:t>16.263 un.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39572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250" b="0">
                <a:solidFill>
                  <a:srgbClr val="5D5860"/>
                </a:solidFill>
                <a:latin typeface="Lato"/>
              </a:defRPr>
            </a:pPr>
            <a:r>
              <a:t>R$ 2,43M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395728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250" b="0">
                <a:solidFill>
                  <a:srgbClr val="5D5860"/>
                </a:solidFill>
                <a:latin typeface="Lato"/>
              </a:defRPr>
            </a:pPr>
            <a:r>
              <a:t>−R$ 360 mil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37744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37183E"/>
                </a:solidFill>
                <a:latin typeface="Lato"/>
              </a:defRPr>
            </a:pPr>
            <a:r>
              <a:t>R$ 2,07M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2395728"/>
            <a:ext cx="14904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250" b="0">
                <a:solidFill>
                  <a:srgbClr val="5D5860"/>
                </a:solidFill>
                <a:latin typeface="Lato"/>
              </a:defRPr>
            </a:pPr>
            <a:r>
              <a:t>R$ 484 mil (23,4%)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17520"/>
            <a:ext cx="11091672" cy="713232"/>
          </a:xfrm>
          <a:prstGeom prst="rect">
            <a:avLst/>
          </a:prstGeom>
          <a:solidFill>
            <a:srgbClr val="EFE0F4"/>
          </a:solidFill>
          <a:ln>
            <a:solidFill>
              <a:srgbClr val="EFE0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017520"/>
            <a:ext cx="73152" cy="713232"/>
          </a:xfrm>
          <a:prstGeom prst="rect">
            <a:avLst/>
          </a:prstGeom>
          <a:solidFill>
            <a:srgbClr val="E000D2"/>
          </a:solidFill>
          <a:ln>
            <a:solidFill>
              <a:srgbClr val="E00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218688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561265"/>
                </a:solidFill>
                <a:latin typeface="Lato"/>
              </a:defRPr>
            </a:pPr>
            <a:r>
              <a:t>Cenário-base (50%)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218688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250" b="1">
                <a:solidFill>
                  <a:srgbClr val="5D5860"/>
                </a:solidFill>
                <a:latin typeface="Lato"/>
              </a:defRPr>
            </a:pPr>
            <a:r>
              <a:t>32.526 un.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321868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250" b="1">
                <a:solidFill>
                  <a:srgbClr val="5D5860"/>
                </a:solidFill>
                <a:latin typeface="Lato"/>
              </a:defRPr>
            </a:pPr>
            <a:r>
              <a:t>R$ 4,86M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218688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250" b="1">
                <a:solidFill>
                  <a:srgbClr val="5D5860"/>
                </a:solidFill>
                <a:latin typeface="Lato"/>
              </a:defRPr>
            </a:pPr>
            <a:r>
              <a:t>−R$ 720 mil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20040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561265"/>
                </a:solidFill>
                <a:latin typeface="Lato"/>
              </a:defRPr>
            </a:pPr>
            <a:r>
              <a:t>R$ 4,14M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3218688"/>
            <a:ext cx="14904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250" b="1">
                <a:solidFill>
                  <a:srgbClr val="5D5860"/>
                </a:solidFill>
                <a:latin typeface="Lato"/>
              </a:defRPr>
            </a:pPr>
            <a:r>
              <a:t>R$ 969 mil (23,4%)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840480"/>
            <a:ext cx="11091672" cy="713232"/>
          </a:xfrm>
          <a:prstGeom prst="rect">
            <a:avLst/>
          </a:prstGeom>
          <a:solidFill>
            <a:srgbClr val="F7EFFA"/>
          </a:solidFill>
          <a:ln>
            <a:solidFill>
              <a:srgbClr val="F7EF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041648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37183E"/>
                </a:solidFill>
                <a:latin typeface="Lato"/>
              </a:defRPr>
            </a:pPr>
            <a:r>
              <a:t>Otimista (75%)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4041648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250" b="0">
                <a:solidFill>
                  <a:srgbClr val="5D5860"/>
                </a:solidFill>
                <a:latin typeface="Lato"/>
              </a:defRPr>
            </a:pPr>
            <a:r>
              <a:t>48.789 un.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404164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250" b="0">
                <a:solidFill>
                  <a:srgbClr val="5D5860"/>
                </a:solidFill>
                <a:latin typeface="Lato"/>
              </a:defRPr>
            </a:pPr>
            <a:r>
              <a:t>R$ 7,29M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041648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250" b="0">
                <a:solidFill>
                  <a:srgbClr val="5D5860"/>
                </a:solidFill>
                <a:latin typeface="Lato"/>
              </a:defRPr>
            </a:pPr>
            <a:r>
              <a:t>−R$ 1,08M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40233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37183E"/>
                </a:solidFill>
                <a:latin typeface="Lato"/>
              </a:defRPr>
            </a:pPr>
            <a:r>
              <a:t>R$ 6,21M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49840" y="4041648"/>
            <a:ext cx="14904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250" b="0">
                <a:solidFill>
                  <a:srgbClr val="5D5860"/>
                </a:solidFill>
                <a:latin typeface="Lato"/>
              </a:defRPr>
            </a:pPr>
            <a:r>
              <a:t>R$ 1,45M (23,4%)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663440"/>
            <a:ext cx="11091672" cy="713232"/>
          </a:xfrm>
          <a:prstGeom prst="rect">
            <a:avLst/>
          </a:prstGeom>
          <a:solidFill>
            <a:srgbClr val="F7EFFA"/>
          </a:solidFill>
          <a:ln>
            <a:solidFill>
              <a:srgbClr val="F7EF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864608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37183E"/>
                </a:solidFill>
                <a:latin typeface="Lato"/>
              </a:defRPr>
            </a:pPr>
            <a:r>
              <a:t>Liquidação total (100%)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4864608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250" b="0">
                <a:solidFill>
                  <a:srgbClr val="5D5860"/>
                </a:solidFill>
                <a:latin typeface="Lato"/>
              </a:defRPr>
            </a:pPr>
            <a:r>
              <a:t>65.052 un.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63440" y="486460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250" b="0">
                <a:solidFill>
                  <a:srgbClr val="5D5860"/>
                </a:solidFill>
                <a:latin typeface="Lato"/>
              </a:defRPr>
            </a:pPr>
            <a:r>
              <a:t>R$ 9,72M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4864608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250" b="0">
                <a:solidFill>
                  <a:srgbClr val="5D5860"/>
                </a:solidFill>
                <a:latin typeface="Lato"/>
              </a:defRPr>
            </a:pPr>
            <a:r>
              <a:t>−R$ 1,44M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484632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37183E"/>
                </a:solidFill>
                <a:latin typeface="Lato"/>
              </a:defRPr>
            </a:pPr>
            <a:r>
              <a:t>R$ 8,28M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49840" y="4864608"/>
            <a:ext cx="14904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250" b="0">
                <a:solidFill>
                  <a:srgbClr val="5D5860"/>
                </a:solidFill>
                <a:latin typeface="Lato"/>
              </a:defRPr>
            </a:pPr>
            <a:r>
              <a:t>R$ 1,94M (23,4%)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5303520"/>
            <a:ext cx="11091672" cy="777240"/>
          </a:xfrm>
          <a:prstGeom prst="rect">
            <a:avLst/>
          </a:prstGeom>
          <a:solidFill>
            <a:srgbClr val="FFFFFF"/>
          </a:solidFill>
          <a:ln>
            <a:solidFill>
              <a:srgbClr val="DEC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413248"/>
            <a:ext cx="10515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00" b="1">
                <a:solidFill>
                  <a:srgbClr val="E000D2"/>
                </a:solidFill>
                <a:latin typeface="Lato"/>
              </a:defRPr>
            </a:pPr>
            <a:r>
              <a:t>CRITÉRIOS DE AUDITORIA &amp; METODOLOGIA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596128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defRPr sz="1050" b="0">
                <a:solidFill>
                  <a:srgbClr val="5D5860"/>
                </a:solidFill>
                <a:latin typeface="Lato"/>
              </a:defRPr>
            </a:pPr>
            <a:r>
              <a:t>1. Preço de venda simulado com 30% de desconto sobre o valor médio praticado no histórico de Vendas.</a:t>
            </a:r>
            <a:br/>
            <a:r>
              <a:t>2. Devoluções calculadas pela taxa histórica por categoria (14,88% média ponderada). A receita é destravamento pontual de caixa (giro de ativo), não recorrente.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10160">
            <a:solidFill>
              <a:srgbClr val="DEC6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48640" y="6419088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827B85"/>
                </a:solidFill>
                <a:latin typeface="Lato"/>
              </a:defRPr>
            </a:pPr>
            <a:r>
              <a:t>Fonte: case Vértice • Bootcamp EloGroup 2026 • Grupo 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01400" y="6419088"/>
            <a:ext cx="4389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950" b="1">
                <a:solidFill>
                  <a:srgbClr val="37183E"/>
                </a:solidFill>
                <a:latin typeface="Lato"/>
              </a:defRPr>
            </a:pPr>
            <a:r>
              <a:t>APÊNDICE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